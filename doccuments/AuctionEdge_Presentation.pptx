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9942B-3EAC-4BC8-A476-997FD984E8F0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07B1A-A719-4621-8097-3936ED91E4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882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07B1A-A719-4621-8097-3936ED91E4E5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238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965960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spc="40">
                <a:solidFill>
                  <a:srgbClr val="9B99AD"/>
                </a:solidFill>
                <a:latin typeface="Consolas"/>
              </a:rPr>
              <a:t>ENGI 9839  ·  SOFTWARE VERIFICATION &amp; VALIDATION  · 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423160"/>
            <a:ext cx="1100297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EEEDF5"/>
                </a:solidFill>
                <a:latin typeface="Segoe UI"/>
              </a:rPr>
              <a:t>Verification &amp; Validation of Concurrent State</a:t>
            </a:r>
          </a:p>
          <a:p>
            <a:r>
              <a:rPr sz="4000" b="1" i="0" dirty="0">
                <a:solidFill>
                  <a:srgbClr val="EEEDF5"/>
                </a:solidFill>
                <a:latin typeface="Segoe UI"/>
              </a:rPr>
              <a:t>in a Time-Bounded Auction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977639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9B99AD"/>
                </a:solidFill>
                <a:latin typeface="Segoe UI"/>
              </a:rPr>
              <a:t>AuctionEdge — testing what happens when two bids, two wallets, and a closing clock all move at the same instant.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709160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9B99AD"/>
                </a:solidFill>
                <a:latin typeface="Consolas"/>
              </a:rPr>
              <a:t>Md Minhajul Abedin · 202483033      Nabil Hasan · 202488877      19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50292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Concurrency bugs are invisible to a single test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EEEDF5"/>
                </a:solidFill>
                <a:latin typeface="Segoe UI"/>
              </a:rPr>
              <a:t>A unit test proves a function returns the right value — once.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EEEDF5"/>
                </a:solidFill>
                <a:latin typeface="Segoe UI"/>
              </a:rPr>
              <a:t>It can't show what happens when two users hit that function at the same instant.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EEEDF5"/>
                </a:solidFill>
                <a:latin typeface="Segoe UI"/>
              </a:rPr>
              <a:t>Auctions live on exactly that edge: simultaneous bids, a shared wallet, a closing-moment race.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4297680"/>
            <a:ext cx="45720" cy="1005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 dirty="0">
                <a:solidFill>
                  <a:srgbClr val="B39BFB"/>
                </a:solidFill>
                <a:latin typeface="Segoe UI"/>
              </a:rPr>
              <a:t>So instead of trusting one technique, we layered six of them — and measured what each one actually caught.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SYSTEM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EEEDF5"/>
                </a:solidFill>
                <a:latin typeface="Segoe UI"/>
              </a:rPr>
              <a:t>AuctionEdge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10029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9B99AD"/>
                </a:solidFill>
                <a:latin typeface="Segoe UI"/>
              </a:rPr>
              <a:t>A from-scratch, time-bounded auction platform — FastAPI · PostgreSQL · React.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4206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EEDF5"/>
                </a:solidFill>
                <a:latin typeface="Segoe UI"/>
              </a:rPr>
              <a:t>Place a bid, retract within a fixed window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EEDF5"/>
                </a:solidFill>
                <a:latin typeface="Segoe UI"/>
              </a:rPr>
              <a:t>System-triggered auto-close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EEDF5"/>
                </a:solidFill>
                <a:latin typeface="Segoe UI"/>
              </a:rPr>
              <a:t>Bid history with masked identities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EEDF5"/>
                </a:solidFill>
                <a:latin typeface="Segoe UI"/>
              </a:rPr>
              <a:t>Outbid / won / lost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434840"/>
            <a:ext cx="4297680" cy="502920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 i="0">
                <a:solidFill>
                  <a:srgbClr val="B39BFB"/>
                </a:solidFill>
                <a:latin typeface="Consolas"/>
              </a:rPr>
              <a:t>no-lost-update: final price = highest accepted bid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074920"/>
            <a:ext cx="4297680" cy="502920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 i="0">
                <a:solidFill>
                  <a:srgbClr val="B39BFB"/>
                </a:solidFill>
                <a:latin typeface="Consolas"/>
              </a:rPr>
              <a:t>wallet hold ≤ balance, even under double-spend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148840"/>
            <a:ext cx="6339535" cy="3474720"/>
          </a:xfrm>
          <a:prstGeom prst="roundRect">
            <a:avLst>
              <a:gd name="adj" fmla="val 6000"/>
            </a:avLst>
          </a:prstGeom>
          <a:solidFill>
            <a:srgbClr val="0E0D13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57800" y="2148840"/>
            <a:ext cx="6339535" cy="256032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67528" y="2235708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32120" y="2235708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96712" y="2235708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60" y="2404872"/>
            <a:ext cx="5608015" cy="3218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 dirty="0">
                <a:solidFill>
                  <a:srgbClr val="C9C6DB"/>
                </a:solidFill>
                <a:latin typeface="Segoe UI"/>
              </a:rPr>
              <a:t>Live Auctions — frontend screenshot</a:t>
            </a:r>
          </a:p>
          <a:p>
            <a:pPr algn="ctr">
              <a:spcAft>
                <a:spcPts val="400"/>
              </a:spcAft>
            </a:pPr>
            <a:r>
              <a:rPr sz="1150" b="0" i="0" dirty="0">
                <a:solidFill>
                  <a:srgbClr val="8B899E"/>
                </a:solidFill>
                <a:latin typeface="Segoe UI"/>
              </a:rPr>
              <a:t>Drop in the Browse page screenshot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03 / 16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09844C-855D-1C00-A9D4-6BE75843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947" y="2434594"/>
            <a:ext cx="5245253" cy="30978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FOUR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What we set out to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1168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12848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RQ1 · RACE CONDITIONS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EEEDF5"/>
                </a:solidFill>
                <a:latin typeface="Segoe UI"/>
              </a:rPr>
              <a:t>Does the system serialize concurrent bids correctly and resolve genuine timestamp ties?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01168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2212848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RQ2 · MUTATION ADEQUACY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EEEDF5"/>
                </a:solidFill>
                <a:latin typeface="Segoe UI"/>
              </a:rPr>
              <a:t>Does the suite actually catch boundary-comparison faults (&gt; vs &gt;=), not just cover the lines?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206239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407407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RQ3 · GENERATED EDGE CASES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EEEDF5"/>
                </a:solidFill>
                <a:latin typeface="Segoe UI"/>
              </a:rPr>
              <a:t>Does automated, generated input find cases a hand-written boundary table would miss?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4206239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4407407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RQ4 · LOCKING STRATEGIES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EEEDF5"/>
                </a:solidFill>
                <a:latin typeface="Segoe UI"/>
              </a:rPr>
              <a:t>How does app-level pessimistic locking compare to database SERIALIZABLE isolation?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The techniques we layered — and where they come from</a:t>
            </a:r>
          </a:p>
        </p:txBody>
      </p:sp>
      <p:sp>
        <p:nvSpPr>
          <p:cNvPr id="4" name="Rounded Rectangle 4"/>
          <p:cNvSpPr/>
          <p:nvPr/>
        </p:nvSpPr>
        <p:spPr>
          <a:xfrm>
            <a:off x="594360" y="201168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4"/>
          <p:cNvSpPr txBox="1"/>
          <p:nvPr/>
        </p:nvSpPr>
        <p:spPr>
          <a:xfrm>
            <a:off x="868680" y="2212848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 spc="20">
                <a:solidFill>
                  <a:srgbClr val="B39BFB"/>
                </a:solidFill>
                <a:latin typeface="Consolas"/>
              </a:rPr>
              <a:t>MUTATION TESTING  ·  [1] [2]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DeMillo et al. proposed injecting small faults to judge a suite’s quality, not the program’s. Jia &amp; Harman’s survey covers the comparison-operator mutation (&gt; ↔ &gt;=) that grounds RQ2.</a:t>
            </a:r>
          </a:p>
        </p:txBody>
      </p:sp>
      <p:sp>
        <p:nvSpPr>
          <p:cNvPr id="6" name="Rounded Rectangle 6"/>
          <p:cNvSpPr/>
          <p:nvPr/>
        </p:nvSpPr>
        <p:spPr>
          <a:xfrm>
            <a:off x="5989320" y="201168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6"/>
          <p:cNvSpPr txBox="1"/>
          <p:nvPr/>
        </p:nvSpPr>
        <p:spPr>
          <a:xfrm>
            <a:off x="6263640" y="2212848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 spc="20">
                <a:solidFill>
                  <a:srgbClr val="B39BFB"/>
                </a:solidFill>
                <a:latin typeface="Consolas"/>
              </a:rPr>
              <a:t>PROPERTY-BASED &amp; GENERATED INPUT  ·  [3] [4] [5]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State an invariant once; a generator searches for a counterexample. Hypothesis (MacIver et al.) — descendant of Claessen &amp; Hughes’ QuickCheck — drove RQ3 instead of King-style symbolic execution.</a:t>
            </a:r>
          </a:p>
        </p:txBody>
      </p:sp>
      <p:sp>
        <p:nvSpPr>
          <p:cNvPr id="8" name="Rounded Rectangle 8"/>
          <p:cNvSpPr/>
          <p:nvPr/>
        </p:nvSpPr>
        <p:spPr>
          <a:xfrm>
            <a:off x="594360" y="4206239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8"/>
          <p:cNvSpPr txBox="1"/>
          <p:nvPr/>
        </p:nvSpPr>
        <p:spPr>
          <a:xfrm>
            <a:off x="868680" y="4407407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 spc="20">
                <a:solidFill>
                  <a:srgbClr val="B39BFB"/>
                </a:solidFill>
                <a:latin typeface="Consolas"/>
              </a:rPr>
              <a:t>CONCURRENCY CONTROL &amp; ISOLATION  ·  [6] [7]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Gray &amp; Reuter’s treatment of locking and deadlock avoidance motivated the fixed lock-ordering rule. Berenson et al.’s ANSI-isolation critique frames the abort-and-retry vs. block contrast tested in RQ4.</a:t>
            </a:r>
          </a:p>
        </p:txBody>
      </p:sp>
      <p:sp>
        <p:nvSpPr>
          <p:cNvPr id="10" name="Rounded Rectangle 10"/>
          <p:cNvSpPr/>
          <p:nvPr/>
        </p:nvSpPr>
        <p:spPr>
          <a:xfrm>
            <a:off x="5989320" y="4206239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"/>
          <p:cNvSpPr txBox="1"/>
          <p:nvPr/>
        </p:nvSpPr>
        <p:spPr>
          <a:xfrm>
            <a:off x="6263640" y="4407407"/>
            <a:ext cx="4526280" cy="147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 spc="20">
                <a:solidFill>
                  <a:srgbClr val="B39BFB"/>
                </a:solidFill>
                <a:latin typeface="Consolas"/>
              </a:rPr>
              <a:t>EXPLORATORY &amp; TEST-DESIGN FOUNDATIONS  ·  [8] [9] [10]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Whittaker’s tour-based taxonomy framed exploratory testing as mission-driven, not random. Myers et al. and Ammann &amp; Offutt supply equivalence partitioning, BVA, and the coverage-criteria vocabulary.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Six techniques, five test tiers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965960"/>
          <a:ext cx="1097280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9B99AD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9B99AD"/>
                          </a:solidFill>
                          <a:latin typeface="Consolas"/>
                        </a:rPr>
                        <a:t>Tests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9B99AD"/>
                          </a:solidFill>
                          <a:latin typeface="Consolas"/>
                        </a:rPr>
                        <a:t>Technique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9B99AD"/>
                          </a:solidFill>
                          <a:latin typeface="Consolas"/>
                        </a:rPr>
                        <a:t>Targets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B39BFB"/>
                          </a:solidFill>
                          <a:latin typeface="Consolas"/>
                        </a:rPr>
                        <a:t>core/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114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White-box, BVA, MCC, equivalence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Pure bidding &amp; wallet logic, no I/O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B39BFB"/>
                          </a:solidFill>
                          <a:latin typeface="Consolas"/>
                        </a:rPr>
                        <a:t>property/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Property-based (Hypothesis)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4 invariants, ~100 generated cases each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B39BFB"/>
                          </a:solidFill>
                          <a:latin typeface="Consolas"/>
                        </a:rPr>
                        <a:t>integration/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59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Contract + integration + fuzzing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Real DB, bid→wallet→notify chain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B39BFB"/>
                          </a:solidFill>
                          <a:latin typeface="Consolas"/>
                        </a:rPr>
                        <a:t>concurrency/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Real-thread harness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Race conditions — RQ1 &amp; RQ4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B39BFB"/>
                          </a:solidFill>
                          <a:latin typeface="Consolas"/>
                        </a:rPr>
                        <a:t>system/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Full stack, real Docker network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EEDF5"/>
                          </a:solidFill>
                          <a:latin typeface="Segoe UI"/>
                        </a:rPr>
                        <a:t>End-to-end over real HTTP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532120"/>
            <a:ext cx="1100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9B99AD"/>
                </a:solidFill>
                <a:latin typeface="Segoe UI"/>
              </a:rPr>
              <a:t>Plus mutation testing (mutmut), run separately over core/ as the RQ2 adequacy check   ·   188 tests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The full suite, all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B39BFB"/>
                </a:solidFill>
                <a:latin typeface="Consolas"/>
              </a:rPr>
              <a:t>188</a:t>
            </a:r>
          </a:p>
          <a:p>
            <a:pPr>
              <a:spcBef>
                <a:spcPts val="200"/>
              </a:spcBef>
            </a:pPr>
            <a:r>
              <a:rPr sz="1050" b="0" i="0" spc="60">
                <a:solidFill>
                  <a:srgbClr val="9B99AD"/>
                </a:solidFill>
                <a:latin typeface="Consolas"/>
              </a:rPr>
              <a:t>TESTS, ALL PASSING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5544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B39BFB"/>
                </a:solidFill>
                <a:latin typeface="Consolas"/>
              </a:rPr>
              <a:t>99%</a:t>
            </a:r>
          </a:p>
          <a:p>
            <a:pPr>
              <a:spcBef>
                <a:spcPts val="200"/>
              </a:spcBef>
            </a:pPr>
            <a:r>
              <a:rPr sz="1050" b="0" i="0" spc="60">
                <a:solidFill>
                  <a:srgbClr val="9B99AD"/>
                </a:solidFill>
                <a:latin typeface="Consolas"/>
              </a:rPr>
              <a:t>BRANCH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B39BFB"/>
                </a:solidFill>
                <a:latin typeface="Consolas"/>
              </a:rPr>
              <a:t>100%</a:t>
            </a:r>
          </a:p>
          <a:p>
            <a:pPr>
              <a:spcBef>
                <a:spcPts val="200"/>
              </a:spcBef>
            </a:pPr>
            <a:r>
              <a:rPr sz="1050" b="0" i="0" spc="60">
                <a:solidFill>
                  <a:srgbClr val="9B99AD"/>
                </a:solidFill>
                <a:latin typeface="Consolas"/>
              </a:rPr>
              <a:t>MUTATION KILL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1002975" cy="3794760"/>
          </a:xfrm>
          <a:prstGeom prst="roundRect">
            <a:avLst>
              <a:gd name="adj" fmla="val 6000"/>
            </a:avLst>
          </a:prstGeom>
          <a:solidFill>
            <a:srgbClr val="0E0D13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606040"/>
            <a:ext cx="11002975" cy="256032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2692908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692908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3272" y="2692908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528" y="2916936"/>
            <a:ext cx="9814637" cy="3429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RQ1 — RACE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EEEDF5"/>
                </a:solidFill>
                <a:latin typeface="Segoe UI"/>
              </a:rPr>
              <a:t>No lost updates, no double-spends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14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EEEDF5"/>
                </a:solidFill>
                <a:latin typeface="Segoe UI"/>
              </a:rPr>
              <a:t>5 real OS threads bid at once → final price always equals the highest accepted bid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EEEDF5"/>
                </a:solidFill>
                <a:latin typeface="Segoe UI"/>
              </a:rPr>
              <a:t>Same bidder, two auctions, combined value &gt; balance → exactly one bid succeeds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EEEDF5"/>
                </a:solidFill>
                <a:latin typeface="Segoe UI"/>
              </a:rPr>
              <a:t>Injected identical-timestamp bids → resolve to exactly one winner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B39BFB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EEEDF5"/>
                </a:solidFill>
                <a:latin typeface="Segoe UI"/>
              </a:rPr>
              <a:t>Auto-close run twice → exactly one closure logged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737360"/>
            <a:ext cx="5790895" cy="4343400"/>
          </a:xfrm>
          <a:prstGeom prst="roundRect">
            <a:avLst>
              <a:gd name="adj" fmla="val 6000"/>
            </a:avLst>
          </a:prstGeom>
          <a:solidFill>
            <a:srgbClr val="0E0D13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06440" y="1737360"/>
            <a:ext cx="5790895" cy="256032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16168" y="1824228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080760" y="1824228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45352" y="1824228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-rq1-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3170535"/>
            <a:ext cx="5681167" cy="173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RQ4 — LOCKING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EEEDF5"/>
                </a:solidFill>
                <a:latin typeface="Segoe UI"/>
              </a:rPr>
              <a:t>Row locks vs. SERIALIZABLE isolation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783080"/>
          <a:ext cx="48463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9B99AD"/>
                          </a:solidFill>
                          <a:latin typeface="Consolas"/>
                        </a:rPr>
                        <a:t>Strategy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9B99AD"/>
                          </a:solidFill>
                          <a:latin typeface="Consolas"/>
                        </a:rPr>
                        <a:t>Accepted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9B99AD"/>
                          </a:solidFill>
                          <a:latin typeface="Consolas"/>
                        </a:rPr>
                        <a:t>Conflicts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9B99AD"/>
                          </a:solidFill>
                          <a:latin typeface="Consolas"/>
                        </a:rPr>
                        <a:t>Clean rejects</a:t>
                      </a:r>
                    </a:p>
                  </a:txBody>
                  <a:tcPr marL="109728" marR="109728" marT="36576" marB="36576" anchor="ctr">
                    <a:solidFill>
                      <a:srgbClr val="19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B39BFB"/>
                          </a:solidFill>
                          <a:latin typeface="Consolas"/>
                        </a:rPr>
                        <a:t>row_lock (default)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EDF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EDF5"/>
                          </a:solidFill>
                          <a:latin typeface="Segoe UI"/>
                        </a:rPr>
                        <a:t>0 every run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EDF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B39BFB"/>
                          </a:solidFill>
                          <a:latin typeface="Consolas"/>
                        </a:rPr>
                        <a:t>serializable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EDF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EDF5"/>
                          </a:solidFill>
                          <a:latin typeface="Segoe UI"/>
                        </a:rPr>
                        <a:t>4–6 across runs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EDF5"/>
                          </a:solidFill>
                          <a:latin typeface="Segoe UI"/>
                        </a:rPr>
                        <a:t>0–2</a:t>
                      </a:r>
                    </a:p>
                  </a:txBody>
                  <a:tcPr marL="109728" marR="109728" marT="36576" marB="36576" anchor="ctr">
                    <a:solidFill>
                      <a:srgbClr val="20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2044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EEEDF5"/>
                </a:solidFill>
                <a:latin typeface="Segoe UI"/>
              </a:rPr>
              <a:t>Both stay correct. They differ in mechanism: locking queues and blocks; SERIALIZABLE lets the loser pass validation, then aborts it at commit.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783080"/>
            <a:ext cx="5790895" cy="4297680"/>
          </a:xfrm>
          <a:prstGeom prst="roundRect">
            <a:avLst>
              <a:gd name="adj" fmla="val 6000"/>
            </a:avLst>
          </a:prstGeom>
          <a:solidFill>
            <a:srgbClr val="0E0D13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06440" y="1783080"/>
            <a:ext cx="5790895" cy="256032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16168" y="1869948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80760" y="1869948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45352" y="1869948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-rq4-lo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3146933"/>
            <a:ext cx="5681167" cy="18260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RQ2 — MUTATION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100 mutants, 0 survivors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B39BFB"/>
                </a:solidFill>
                <a:latin typeface="Consolas"/>
              </a:rPr>
              <a:t>100/100</a:t>
            </a:r>
          </a:p>
          <a:p>
            <a:pPr>
              <a:spcBef>
                <a:spcPts val="200"/>
              </a:spcBef>
            </a:pPr>
            <a:r>
              <a:rPr sz="1050" b="0" i="0" spc="60">
                <a:solidFill>
                  <a:srgbClr val="9B99AD"/>
                </a:solidFill>
                <a:latin typeface="Consolas"/>
              </a:rPr>
              <a:t>MUTANTS KILLED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50" b="0" i="0">
                <a:solidFill>
                  <a:srgbClr val="EEEDF5"/>
                </a:solidFill>
                <a:latin typeface="Segoe UI"/>
              </a:rPr>
              <a:t>Coverage alone can't prove a comparison is checked correctly — a fully branch-covered line can still hide a fault nothing verifies. Mutation testing is what actually tests the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554480"/>
            <a:ext cx="5790895" cy="4480560"/>
          </a:xfrm>
          <a:prstGeom prst="roundRect">
            <a:avLst>
              <a:gd name="adj" fmla="val 6000"/>
            </a:avLst>
          </a:prstGeom>
          <a:solidFill>
            <a:srgbClr val="0E0D13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06440" y="1554480"/>
            <a:ext cx="5790895" cy="256032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16168" y="1641348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80760" y="1641348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45352" y="1641348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-rq2-m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451683"/>
            <a:ext cx="5681167" cy="2942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RQ3 — PROPERTY-BASED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EEEDF5"/>
                </a:solidFill>
                <a:latin typeface="Segoe UI"/>
              </a:rPr>
              <a:t>Letting the computer pick the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50" b="0" i="0">
                <a:solidFill>
                  <a:srgbClr val="EEEDF5"/>
                </a:solidFill>
                <a:latin typeface="Segoe UI"/>
              </a:rPr>
              <a:t>6 properties × ~100 auto-generated examples each — 0 counterexamples found across bid validation, Buy-It-Now, retraction monotonicity, and the wallet-hold invariant.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737360"/>
            <a:ext cx="5790895" cy="4297680"/>
          </a:xfrm>
          <a:prstGeom prst="roundRect">
            <a:avLst>
              <a:gd name="adj" fmla="val 6000"/>
            </a:avLst>
          </a:prstGeom>
          <a:solidFill>
            <a:srgbClr val="0E0D13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06440" y="1737360"/>
            <a:ext cx="5790895" cy="256032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16168" y="1824228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080760" y="1824228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45352" y="1824228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-rq3-prope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3156206"/>
            <a:ext cx="5681167" cy="17160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SYSTEM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The real, deployed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50" b="0" i="0">
                <a:solidFill>
                  <a:srgbClr val="EEEDF5"/>
                </a:solidFill>
                <a:latin typeface="Segoe UI"/>
              </a:rPr>
              <a:t>Postgres + backend + frontend — three Docker containers, real HTTP, real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88920"/>
            <a:ext cx="45720" cy="1737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45262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B39BFB"/>
                </a:solidFill>
                <a:latin typeface="Segoe UI"/>
              </a:rPr>
              <a:t>This tier alone caught a real bug: the placeholder email domain used everywhere else in the suite is correctly rejected by real registration — because it's the only tier that ever calls that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737360"/>
            <a:ext cx="5790895" cy="4297680"/>
          </a:xfrm>
          <a:prstGeom prst="roundRect">
            <a:avLst>
              <a:gd name="adj" fmla="val 6000"/>
            </a:avLst>
          </a:prstGeom>
          <a:solidFill>
            <a:srgbClr val="0E0D13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06440" y="1737360"/>
            <a:ext cx="5790895" cy="256032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16168" y="1824228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80760" y="1824228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245352" y="1824228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-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494788"/>
            <a:ext cx="5681167" cy="30388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WHAT WE ACTUALLY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EEEDF5"/>
                </a:solidFill>
                <a:latin typeface="Segoe UI"/>
              </a:rPr>
              <a:t>Four real bugs, four different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4526280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01  </a:t>
            </a:r>
            <a:r>
              <a:rPr sz="1500" b="1" i="0">
                <a:solidFill>
                  <a:srgbClr val="EEEDF5"/>
                </a:solidFill>
                <a:latin typeface="Segoe UI"/>
              </a:rPr>
              <a:t>NaN / Infinity crash</a:t>
            </a:r>
          </a:p>
          <a:p>
            <a:pPr>
              <a:spcBef>
                <a:spcPts val="200"/>
              </a:spcBef>
            </a:pPr>
            <a:r>
              <a:rPr sz="950" b="0" i="0" spc="40">
                <a:solidFill>
                  <a:srgbClr val="9B99AD"/>
                </a:solidFill>
                <a:latin typeface="Consolas"/>
              </a:rPr>
              <a:t>HTTP-BOUNDARY FUZZING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Server 500'd on a “valid” JSON number instead of a clean rejection. Fixed &amp; regression-tested.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82880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993392"/>
            <a:ext cx="4526280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02  </a:t>
            </a:r>
            <a:r>
              <a:rPr sz="1500" b="1" i="0">
                <a:solidFill>
                  <a:srgbClr val="EEEDF5"/>
                </a:solidFill>
                <a:latin typeface="Segoe UI"/>
              </a:rPr>
              <a:t>Registration email gap</a:t>
            </a:r>
          </a:p>
          <a:p>
            <a:pPr>
              <a:spcBef>
                <a:spcPts val="200"/>
              </a:spcBef>
            </a:pPr>
            <a:r>
              <a:rPr sz="950" b="0" i="0" spc="40">
                <a:solidFill>
                  <a:srgbClr val="9B99AD"/>
                </a:solidFill>
                <a:latin typeface="Consolas"/>
              </a:rPr>
              <a:t>SYSTEM TESTING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The only tier that ever calls the real /auth/register endpoint.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4904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913632"/>
            <a:ext cx="4526280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03  </a:t>
            </a:r>
            <a:r>
              <a:rPr sz="1500" b="1" i="0">
                <a:solidFill>
                  <a:srgbClr val="EEEDF5"/>
                </a:solidFill>
                <a:latin typeface="Segoe UI"/>
              </a:rPr>
              <a:t>“Pay Now” never disappears</a:t>
            </a:r>
          </a:p>
          <a:p>
            <a:pPr>
              <a:spcBef>
                <a:spcPts val="200"/>
              </a:spcBef>
            </a:pPr>
            <a:r>
              <a:rPr sz="950" b="0" i="0" spc="40">
                <a:solidFill>
                  <a:srgbClr val="9B99AD"/>
                </a:solidFill>
                <a:latin typeface="Consolas"/>
              </a:rPr>
              <a:t>EXPLORATORY TESTING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Button has no idea the auction already closed or was charged.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74904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201F2A"/>
          </a:solidFill>
          <a:ln w="9525">
            <a:solidFill>
              <a:srgbClr val="33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3913632"/>
            <a:ext cx="4526280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B39BFB"/>
                </a:solidFill>
                <a:latin typeface="Consolas"/>
              </a:rPr>
              <a:t>04  </a:t>
            </a:r>
            <a:r>
              <a:rPr sz="1500" b="1" i="0">
                <a:solidFill>
                  <a:srgbClr val="EEEDF5"/>
                </a:solidFill>
                <a:latin typeface="Segoe UI"/>
              </a:rPr>
              <a:t>300-char title breaks layout</a:t>
            </a:r>
          </a:p>
          <a:p>
            <a:pPr>
              <a:spcBef>
                <a:spcPts val="200"/>
              </a:spcBef>
            </a:pPr>
            <a:r>
              <a:rPr sz="950" b="0" i="0" spc="40">
                <a:solidFill>
                  <a:srgbClr val="9B99AD"/>
                </a:solidFill>
                <a:latin typeface="Consolas"/>
              </a:rPr>
              <a:t>EXPLORATORY TESTING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EEDF5"/>
                </a:solidFill>
                <a:latin typeface="Segoe UI"/>
              </a:rPr>
              <a:t>Item page has no truncation; Browse page does.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1">
                <a:solidFill>
                  <a:srgbClr val="9B99AD"/>
                </a:solidFill>
                <a:latin typeface="Segoe UI"/>
              </a:rPr>
              <a:t>Each bug was invisible to every other tier — different techniques structurally see different faults.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EEEDF5"/>
                </a:solidFill>
                <a:latin typeface="Segoe UI"/>
              </a:rPr>
              <a:t>Demo video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11002975" cy="4206240"/>
          </a:xfrm>
          <a:prstGeom prst="roundRect">
            <a:avLst>
              <a:gd name="adj" fmla="val 5000"/>
            </a:avLst>
          </a:prstGeom>
          <a:solidFill>
            <a:srgbClr val="201F2A"/>
          </a:solidFill>
          <a:ln w="15875">
            <a:solidFill>
              <a:srgbClr val="33314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14 / 16</a:t>
            </a:r>
          </a:p>
        </p:txBody>
      </p:sp>
      <p:pic>
        <p:nvPicPr>
          <p:cNvPr id="6" name="Auction Edge Demo">
            <a:hlinkClick r:id="" action="ppaction://media"/>
            <a:extLst>
              <a:ext uri="{FF2B5EF4-FFF2-40B4-BE49-F238E27FC236}">
                <a16:creationId xmlns:a16="http://schemas.microsoft.com/office/drawing/2014/main" id="{88A86040-C509-7F22-22B7-AB8885FB5D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08200" y="1719072"/>
            <a:ext cx="7524750" cy="4232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9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EEEDF5"/>
                </a:solidFill>
                <a:latin typeface="Segoe UI"/>
              </a:rPr>
              <a:t>Test adequacy is a stronger claim than test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B39BFB"/>
                </a:solidFill>
                <a:latin typeface="Consolas"/>
              </a:rPr>
              <a:t>188</a:t>
            </a:r>
          </a:p>
          <a:p>
            <a:r>
              <a:rPr sz="950" b="0" i="0" spc="40">
                <a:solidFill>
                  <a:srgbClr val="9B99AD"/>
                </a:solidFill>
                <a:latin typeface="Consolas"/>
              </a:rPr>
              <a:t>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737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B39BFB"/>
                </a:solidFill>
                <a:latin typeface="Consolas"/>
              </a:rPr>
              <a:t>99%</a:t>
            </a:r>
          </a:p>
          <a:p>
            <a:r>
              <a:rPr sz="950" b="0" i="0" spc="40">
                <a:solidFill>
                  <a:srgbClr val="9B99AD"/>
                </a:solidFill>
                <a:latin typeface="Consolas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737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B39BFB"/>
                </a:solidFill>
                <a:latin typeface="Consolas"/>
              </a:rPr>
              <a:t>100%</a:t>
            </a:r>
          </a:p>
          <a:p>
            <a:r>
              <a:rPr sz="950" b="0" i="0" spc="40">
                <a:solidFill>
                  <a:srgbClr val="9B99AD"/>
                </a:solidFill>
                <a:latin typeface="Consolas"/>
              </a:rPr>
              <a:t>MUTATION 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0" y="1737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B39BFB"/>
                </a:solidFill>
                <a:latin typeface="Consolas"/>
              </a:rPr>
              <a:t>4</a:t>
            </a:r>
          </a:p>
          <a:p>
            <a:r>
              <a:rPr sz="950" b="0" i="0" spc="40">
                <a:solidFill>
                  <a:srgbClr val="9B99AD"/>
                </a:solidFill>
                <a:latin typeface="Consolas"/>
              </a:rPr>
              <a:t>REAL BUGS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100297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EEEDF5"/>
                </a:solidFill>
                <a:latin typeface="Segoe UI"/>
              </a:rPr>
              <a:t>Six techniques, four research questions, one result: different tools see different faults — layering them is what actually finds bugs. Next: formal specification (TLA+) of the wallet-hold and auto-close invariants.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77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EEEDF5"/>
                </a:solidFill>
                <a:latin typeface="Segoe UI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06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9B99AD"/>
                </a:solidFill>
                <a:latin typeface="Consolas"/>
              </a:rPr>
              <a:t>Questions?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1002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B39BFB"/>
                </a:solidFill>
                <a:latin typeface="Consola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10029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EEEDF5"/>
                </a:solidFill>
                <a:latin typeface="Segoe UI"/>
              </a:rPr>
              <a:t>Bibliography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4360" y="1828800"/>
            <a:ext cx="5200000" cy="4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000" b="1" i="0">
                <a:solidFill>
                  <a:srgbClr val="B39BFB"/>
                </a:solidFill>
                <a:latin typeface="Segoe UI"/>
              </a:rPr>
              <a:t>[1]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R. A. DeMillo, R. J. Lipton, and F. G. Sayward, “Hints on test data selection: Help for the practicing programmer,” Computer, vol. 11, no. 4, pp. 34–41, Apr. 1978.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[2]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Y. Jia and M. Harman, “An analysis and survey of the development of mutation testing,” IEEE Transactions on Software Engineering, vol. 37, no. 5, pp. 649–678, Sept.–Oct. 2011.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[3]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K. Claessen and J. Hughes, “QuickCheck: A lightweight tool for random testing of Haskell programs,” in Proc. 5th ACM SIGPLAN Int. Conf. Functional Programming (ICFP ’00), 2000, pp. 268–279.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[4]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J. C. King, “Symbolic execution and program testing,” Communications of the ACM, vol. 19, no. 7, pp. 385–394, July 1976.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[5]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D. MacIver, Z. Hatfield-Dodds, and Contributors to Hypothesis, “Hypothesis: A new approach to property-based testing,” Journal of Open Source Software, vol. 4, no. 43, p. 1891, 2019.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00000" y="1828800"/>
            <a:ext cx="5200000" cy="4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000" b="1" i="0">
                <a:solidFill>
                  <a:srgbClr val="B39BFB"/>
                </a:solidFill>
                <a:latin typeface="Segoe UI"/>
              </a:rPr>
              <a:t>[6]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J. Gray and A. Reuter, Transaction Processing: Concepts and Techniques. San Francisco, CA: Morgan Kaufmann, 1993.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[7]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H. Berenson, P. Bernstein, J. Gray, J. Melton, E. O’Neil, and P. O’Neil, “A critique of ANSI SQL isolation levels,” in Proc. ACM SIGMOD Int. Conf. Management of Data, 1995, pp. 1–10.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[8]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J. A. Whittaker, Exploratory Software Testing: Tips, Tricks, Tours, and Techniques to Guide Test Design. Upper Saddle River, NJ: Addison-Wesley, 2010.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[9]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G. J. Myers, C. Sandler, and T. Badgett, The Art of Software Testing, 3rd ed. Hoboken, NJ: Wiley, 2011.</a:t>
            </a:r>
          </a:p>
          <a:p>
            <a:pPr>
              <a:spcBef>
                <a:spcPts val="900"/>
              </a:spcBef>
            </a:pPr>
            <a:r>
              <a:rPr sz="1000" b="1" i="0">
                <a:solidFill>
                  <a:srgbClr val="B39BFB"/>
                </a:solidFill>
                <a:latin typeface="Segoe UI"/>
              </a:rPr>
              <a:t>[10]  </a:t>
            </a:r>
            <a:r>
              <a:rPr sz="1000" b="0" i="0">
                <a:solidFill>
                  <a:srgbClr val="C9C6DB"/>
                </a:solidFill>
                <a:latin typeface="Segoe UI"/>
              </a:rPr>
              <a:t>P. Ammann and J. Offutt, Introduction to Software Testing, 2nd ed. Cambridge, U.K.: Cambridge University Press, 2016.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40">
                <a:solidFill>
                  <a:srgbClr val="9B99AD"/>
                </a:solidFill>
                <a:latin typeface="Consolas"/>
              </a:rPr>
              <a:t>AuctionEdge  ·  ENGI 9839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5735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B99AD"/>
                </a:solidFill>
                <a:latin typeface="Consola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1557</Words>
  <Application>Microsoft Office PowerPoint</Application>
  <PresentationFormat>Widescreen</PresentationFormat>
  <Paragraphs>179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Md. Minhajul Abedin</cp:lastModifiedBy>
  <cp:revision>3</cp:revision>
  <dcterms:created xsi:type="dcterms:W3CDTF">2013-01-27T09:14:16Z</dcterms:created>
  <dcterms:modified xsi:type="dcterms:W3CDTF">2026-07-21T00:28:48Z</dcterms:modified>
  <cp:category/>
</cp:coreProperties>
</file>